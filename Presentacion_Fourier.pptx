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24A"/>
                </a:solidFill>
                <a:latin typeface="Aptos Display"/>
              </a:defRPr>
            </a:pPr>
            <a:r>
              <a:t>Señales y transformada</a:t>
            </a:r>
            <a:br/>
            <a:r>
              <a:t>de Fourier</a:t>
            </a:r>
          </a:p>
          <a:p>
            <a:pPr>
              <a:defRPr sz="2000">
                <a:solidFill>
                  <a:srgbClr val="12847E"/>
                </a:solidFill>
              </a:defRPr>
            </a:pPr>
            <a:r>
              <a:t>Simulación en Python · Actividad formativa 2</a:t>
            </a:r>
          </a:p>
        </p:txBody>
      </p:sp>
      <p:pic>
        <p:nvPicPr>
          <p:cNvPr id="4" name="Picture 3" descr="escalamiento_fr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794760"/>
            <a:ext cx="10149840" cy="4398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A"/>
                </a:solidFill>
                <a:latin typeface="Aptos Display"/>
              </a:defRPr>
            </a:pPr>
            <a:r>
              <a:t>¿Qué revela la transformada?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847E"/>
                </a:solidFill>
              </a:defRPr>
            </a:pPr>
            <a:r>
              <a:t>La FFT lleva una secuencia del tiempo a sus componentes de frecuencia.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3383280" cy="1920240"/>
          </a:xfrm>
          <a:prstGeom prst="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2971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847E"/>
                </a:solidFill>
              </a:defRPr>
            </a:pPr>
            <a:r>
              <a:t>Tiempo</a:t>
            </a:r>
          </a:p>
          <a:p>
            <a:pPr>
              <a:defRPr sz="1600">
                <a:solidFill>
                  <a:srgbClr val="2D3843"/>
                </a:solidFill>
              </a:defRPr>
            </a:pPr>
            <a:r>
              <a:t>Forma, amplitud y discontinuidades.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965960"/>
            <a:ext cx="3383280" cy="1920240"/>
          </a:xfrm>
          <a:prstGeom prst="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2194560"/>
            <a:ext cx="2971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847E"/>
                </a:solidFill>
              </a:defRPr>
            </a:pPr>
            <a:r>
              <a:t>Frecuencia</a:t>
            </a:r>
          </a:p>
          <a:p>
            <a:pPr>
              <a:defRPr sz="1600">
                <a:solidFill>
                  <a:srgbClr val="2D3843"/>
                </a:solidFill>
              </a:defRPr>
            </a:pPr>
            <a:r>
              <a:t>Componentes dominantes y distribución espectral.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965960"/>
            <a:ext cx="3383280" cy="1920240"/>
          </a:xfrm>
          <a:prstGeom prst="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2194560"/>
            <a:ext cx="2971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847E"/>
                </a:solidFill>
              </a:defRPr>
            </a:pPr>
            <a:r>
              <a:t>FFT</a:t>
            </a:r>
          </a:p>
          <a:p>
            <a:pPr>
              <a:defRPr sz="1600">
                <a:solidFill>
                  <a:srgbClr val="2D3843"/>
                </a:solidFill>
              </a:defRPr>
            </a:pPr>
            <a:r>
              <a:t>Algoritmo rápido para calcular la DFT discreta.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A"/>
                </a:solidFill>
                <a:latin typeface="Aptos Display"/>
              </a:defRPr>
            </a:pPr>
            <a:r>
              <a:t>Diseño de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847E"/>
                </a:solidFill>
              </a:defRPr>
            </a:pPr>
            <a:r>
              <a:t>Muestreo uniforme para comparar tres señales elementales.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0233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843"/>
                </a:solidFill>
              </a:defRPr>
            </a:pPr>
            <a:r>
              <a:t>• fs = 1,000 Hz; N = 2,000 muestras</a:t>
            </a:r>
          </a:p>
          <a:p>
            <a:pPr>
              <a:spcAft>
                <a:spcPts val="1400"/>
              </a:spcAft>
              <a:defRPr sz="1900">
                <a:solidFill>
                  <a:srgbClr val="2D3843"/>
                </a:solidFill>
              </a:defRPr>
            </a:pPr>
            <a:r>
              <a:t>• Ventana de 2 s; resolución Δf = 0.5 Hz</a:t>
            </a:r>
          </a:p>
          <a:p>
            <a:pPr>
              <a:spcAft>
                <a:spcPts val="1400"/>
              </a:spcAft>
              <a:defRPr sz="1900">
                <a:solidFill>
                  <a:srgbClr val="2D3843"/>
                </a:solidFill>
              </a:defRPr>
            </a:pPr>
            <a:r>
              <a:t>• Pulso rectangular de 0.20 s</a:t>
            </a:r>
          </a:p>
          <a:p>
            <a:pPr>
              <a:spcAft>
                <a:spcPts val="1400"/>
              </a:spcAft>
              <a:defRPr sz="1900">
                <a:solidFill>
                  <a:srgbClr val="2D3843"/>
                </a:solidFill>
              </a:defRPr>
            </a:pPr>
            <a:r>
              <a:t>• Escalón unitario en t = 0</a:t>
            </a:r>
          </a:p>
          <a:p>
            <a:pPr>
              <a:spcAft>
                <a:spcPts val="1400"/>
              </a:spcAft>
              <a:defRPr sz="1900">
                <a:solidFill>
                  <a:srgbClr val="2D3843"/>
                </a:solidFill>
              </a:defRPr>
            </a:pPr>
            <a:r>
              <a:t>• Senoide de 50 Hz</a:t>
            </a:r>
          </a:p>
        </p:txBody>
      </p:sp>
      <p:pic>
        <p:nvPicPr>
          <p:cNvPr id="6" name="Picture 5" descr="senales_tiempo_espec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49158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A"/>
                </a:solidFill>
                <a:latin typeface="Aptos Display"/>
              </a:defRPr>
            </a:pPr>
            <a:r>
              <a:t>Lectura de los espectros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847E"/>
                </a:solidFill>
              </a:defRPr>
            </a:pPr>
            <a:r>
              <a:t>Las formas temporales producen firmas espectrales diferentes.</a:t>
            </a:r>
          </a:p>
        </p:txBody>
      </p:sp>
      <p:pic>
        <p:nvPicPr>
          <p:cNvPr id="5" name="Picture 4" descr="senales_tiempo_espec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315200" cy="5462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6459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843"/>
                </a:solidFill>
              </a:defRPr>
            </a:pPr>
            <a:r>
              <a:t>• Senoide: pico dominante en 50 Hz.</a:t>
            </a:r>
          </a:p>
          <a:p>
            <a:pPr>
              <a:spcAft>
                <a:spcPts val="1500"/>
              </a:spcAft>
              <a:defRPr sz="1700">
                <a:solidFill>
                  <a:srgbClr val="2D3843"/>
                </a:solidFill>
              </a:defRPr>
            </a:pPr>
            <a:r>
              <a:t>• Pulso: lóbulo principal y lóbulos laterales.</a:t>
            </a:r>
          </a:p>
          <a:p>
            <a:pPr>
              <a:spcAft>
                <a:spcPts val="1500"/>
              </a:spcAft>
              <a:defRPr sz="1700">
                <a:solidFill>
                  <a:srgbClr val="2D3843"/>
                </a:solidFill>
              </a:defRPr>
            </a:pPr>
            <a:r>
              <a:t>• Escalón: DC y energía concentrada en bajas frecuencias.</a:t>
            </a:r>
          </a:p>
          <a:p>
            <a:pPr>
              <a:spcAft>
                <a:spcPts val="1500"/>
              </a:spcAft>
              <a:defRPr sz="1700">
                <a:solidFill>
                  <a:srgbClr val="2D3843"/>
                </a:solidFill>
              </a:defRPr>
            </a:pPr>
            <a:r>
              <a:t>• La ventana finita condiciona el espectro observado.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A"/>
                </a:solidFill>
                <a:latin typeface="Aptos Display"/>
              </a:defRPr>
            </a:pPr>
            <a:r>
              <a:t>Propiedades verificadas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847E"/>
                </a:solidFill>
              </a:defRPr>
            </a:pPr>
            <a:r>
              <a:t>Los errores numéricos son del orden del redondeo computacional.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8458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Propiedad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Interpretación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Linealidad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5.7e-14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La transformada conserva combinaciones lineales.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Desplazamiento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7.3e-14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El retardo conserva magnitud y modifica la fase.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Escalamiento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5 → 10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D3843"/>
                          </a:solidFill>
                        </a:defRPr>
                      </a:pPr>
                      <a:r>
                        <a:t>La compresión temporal ensancha el espectro.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A"/>
                </a:solidFill>
                <a:latin typeface="Aptos Display"/>
              </a:defRPr>
            </a:pPr>
            <a:r>
              <a:t>Escalamiento temporal y frecuencia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847E"/>
                </a:solidFill>
              </a:defRPr>
            </a:pPr>
            <a:r>
              <a:t>El primer nulo se desplaza al duplicar la compresión del pulso.</a:t>
            </a:r>
          </a:p>
        </p:txBody>
      </p:sp>
      <p:pic>
        <p:nvPicPr>
          <p:cNvPr id="5" name="Picture 4" descr="escalamiento_fr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10881360" cy="4715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A"/>
                </a:solidFill>
                <a:latin typeface="Aptos Display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847E"/>
                </a:solidFill>
              </a:defRPr>
            </a:pPr>
            <a:r>
              <a:t>Tiempo y frecuencia son vistas complementarias de una misma señal.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D3843"/>
                </a:solidFill>
              </a:defRPr>
            </a:pPr>
            <a:r>
              <a:t>• La senoide concentra su energía alrededor de su frecuencia.</a:t>
            </a:r>
          </a:p>
          <a:p>
            <a:pPr>
              <a:spcAft>
                <a:spcPts val="2000"/>
              </a:spcAft>
              <a:defRPr sz="2100">
                <a:solidFill>
                  <a:srgbClr val="2D3843"/>
                </a:solidFill>
              </a:defRPr>
            </a:pPr>
            <a:r>
              <a:t>• Los cambios abruptos y pulsos breves distribuyen energía en bandas más amplias.</a:t>
            </a:r>
          </a:p>
          <a:p>
            <a:pPr>
              <a:spcAft>
                <a:spcPts val="2000"/>
              </a:spcAft>
              <a:defRPr sz="2100">
                <a:solidFill>
                  <a:srgbClr val="2D3843"/>
                </a:solidFill>
              </a:defRPr>
            </a:pPr>
            <a:r>
              <a:t>• El desplazamiento temporal se refleja como cambio de fase.</a:t>
            </a:r>
          </a:p>
          <a:p>
            <a:pPr>
              <a:spcAft>
                <a:spcPts val="2000"/>
              </a:spcAft>
              <a:defRPr sz="2100">
                <a:solidFill>
                  <a:srgbClr val="2D3843"/>
                </a:solidFill>
              </a:defRPr>
            </a:pPr>
            <a:r>
              <a:t>• La interpretación depende de muestreo, ventana y resolución de la DFT.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